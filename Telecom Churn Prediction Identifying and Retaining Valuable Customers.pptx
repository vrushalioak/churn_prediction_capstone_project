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80" r:id="rId9"/>
    <p:sldId id="281" r:id="rId10"/>
    <p:sldId id="282" r:id="rId11"/>
    <p:sldId id="262" r:id="rId12"/>
    <p:sldId id="263" r:id="rId13"/>
    <p:sldId id="264" r:id="rId14"/>
    <p:sldId id="265" r:id="rId15"/>
    <p:sldId id="266" r:id="rId16"/>
    <p:sldId id="270" r:id="rId17"/>
    <p:sldId id="267" r:id="rId18"/>
    <p:sldId id="268" r:id="rId19"/>
    <p:sldId id="269" r:id="rId20"/>
  </p:sldIdLst>
  <p:sldSz cx="18288000" cy="10287000"/>
  <p:notesSz cx="6858000" cy="9144000"/>
  <p:embeddedFontLst>
    <p:embeddedFont>
      <p:font typeface="TT Interphases Bold" panose="020B0604020202020204" charset="0"/>
      <p:regular r:id="rId21"/>
    </p:embeddedFont>
    <p:embeddedFont>
      <p:font typeface="Canva Sans Bold" panose="020B0604020202020204" charset="0"/>
      <p:regular r:id="rId22"/>
    </p:embeddedFont>
    <p:embeddedFont>
      <p:font typeface="TT Interphases" panose="020B0604020202020204" charset="0"/>
      <p:regular r:id="rId23"/>
    </p:embeddedFont>
    <p:embeddedFont>
      <p:font typeface="Georgia Pro Condensed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nva Sans" panose="020B0604020202020204" charset="0"/>
      <p:regular r:id="rId29"/>
    </p:embeddedFont>
    <p:embeddedFont>
      <p:font typeface="Georgia Pro Condensed Light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1562100"/>
            <a:ext cx="8629650" cy="8724900"/>
            <a:chOff x="0" y="0"/>
            <a:chExt cx="2482140" cy="2509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2140" cy="2509537"/>
            </a:xfrm>
            <a:custGeom>
              <a:avLst/>
              <a:gdLst/>
              <a:ahLst/>
              <a:cxnLst/>
              <a:rect l="l" t="t" r="r" b="b"/>
              <a:pathLst>
                <a:path w="2482140" h="2509537">
                  <a:moveTo>
                    <a:pt x="0" y="0"/>
                  </a:moveTo>
                  <a:lnTo>
                    <a:pt x="2482140" y="0"/>
                  </a:lnTo>
                  <a:lnTo>
                    <a:pt x="2482140" y="2509537"/>
                  </a:lnTo>
                  <a:lnTo>
                    <a:pt x="0" y="2509537"/>
                  </a:lnTo>
                  <a:close/>
                </a:path>
              </a:pathLst>
            </a:custGeom>
            <a:blipFill>
              <a:blip r:embed="rId2"/>
              <a:stretch>
                <a:fillRect t="-80" b="-80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66750" y="1409700"/>
            <a:ext cx="7469469" cy="271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920"/>
              </a:lnSpc>
              <a:spcBef>
                <a:spcPct val="0"/>
              </a:spcBef>
            </a:pPr>
            <a:r>
              <a:rPr lang="en-US" sz="7800" b="1" u="none" strike="noStrike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Telecom Churn Prediction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7964954"/>
            <a:ext cx="5448300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E6F0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Presented by:</a:t>
            </a:r>
          </a:p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endParaRPr lang="en-US" sz="2400" u="none" strike="noStrike" dirty="0">
              <a:solidFill>
                <a:srgbClr val="E6F0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E6F0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Vrushali Oak</a:t>
            </a:r>
          </a:p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E6F0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 </a:t>
            </a:r>
            <a:r>
              <a:rPr lang="en-US" sz="2400" u="none" strike="noStrike" dirty="0" smtClean="0">
                <a:solidFill>
                  <a:srgbClr val="E6F0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Scientist</a:t>
            </a:r>
            <a:endParaRPr lang="en-US" sz="2400" u="none" strike="noStrike" dirty="0">
              <a:solidFill>
                <a:srgbClr val="E6F0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66750" y="1263650"/>
            <a:ext cx="16954500" cy="0"/>
          </a:xfrm>
          <a:prstGeom prst="line">
            <a:avLst/>
          </a:prstGeom>
          <a:ln w="9525" cap="flat">
            <a:solidFill>
              <a:srgbClr val="E6F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666750" y="4582796"/>
            <a:ext cx="6675257" cy="106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Predicting customer churn using machine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69" b="-69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E6F0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Understanding Churn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E6F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66750" y="4626609"/>
            <a:ext cx="6886575" cy="4098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9"/>
              </a:lnSpc>
            </a:pPr>
            <a:r>
              <a:rPr lang="en-US" sz="2899">
                <a:solidFill>
                  <a:srgbClr val="E6F0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Customer churn refers where clients discontinue their service. </a:t>
            </a:r>
          </a:p>
          <a:p>
            <a:pPr marL="0" lvl="0" indent="0" algn="l">
              <a:lnSpc>
                <a:spcPts val="4059"/>
              </a:lnSpc>
            </a:pPr>
            <a:r>
              <a:rPr lang="en-US" sz="2899">
                <a:solidFill>
                  <a:srgbClr val="E6F0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Understanding churn is essential as it impacts revenue and growth. Identifying the reasons behind customer dissatisfaction helps businesses </a:t>
            </a:r>
            <a:r>
              <a:rPr lang="en-US" sz="2899" b="1">
                <a:solidFill>
                  <a:srgbClr val="E6F0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improve services</a:t>
            </a:r>
            <a:r>
              <a:rPr lang="en-US" sz="2899">
                <a:solidFill>
                  <a:srgbClr val="E6F0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and develop effective retention strategies.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23900"/>
            <a:ext cx="1551622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E6F0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Business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50032" y="3379614"/>
            <a:ext cx="15387935" cy="444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u="none" strike="noStrike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churn leads to significant revenue loss in telecom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 u="none" strike="noStrike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u="none" strike="noStrike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Retaining existing customers is cheaper than acquiring new ones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 u="none" strike="noStrike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u="none" strike="noStrike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 Predict customers likely to churn so retention teams can act early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 u="none" strike="noStrike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4007"/>
            <a:ext cx="622554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E6F0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Dataset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9199" y="2564959"/>
            <a:ext cx="12504420" cy="635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25,000 customers, 36 features </a:t>
            </a:r>
          </a:p>
          <a:p>
            <a:pPr algn="l">
              <a:lnSpc>
                <a:spcPts val="5040"/>
              </a:lnSpc>
            </a:pPr>
            <a:endParaRPr lang="en-US" sz="3600" b="1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Includes numerical, binary, and categorical variables</a:t>
            </a:r>
          </a:p>
          <a:p>
            <a:pPr algn="l">
              <a:lnSpc>
                <a:spcPts val="5040"/>
              </a:lnSpc>
            </a:pPr>
            <a:endParaRPr lang="en-US" sz="3600" b="1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u="none" strike="noStrike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variable: is_churn (1 = churned, 0 = retained)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 u="none" strike="noStrike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u="none" strike="noStrike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Churn distribution: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58.6% retained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41.4% churned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This is moderate imbalance, not extreme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23900"/>
            <a:ext cx="14487866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E6F0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Data Understanding &amp; Cleaning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18957" y="2600999"/>
            <a:ext cx="13520228" cy="687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endParaRPr dirty="0"/>
          </a:p>
          <a:p>
            <a:pPr marL="755649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Removed non-informative and leaky columns:</a:t>
            </a:r>
          </a:p>
          <a:p>
            <a:pPr marL="1511298" lvl="2" indent="-503766" algn="just">
              <a:lnSpc>
                <a:spcPts val="4899"/>
              </a:lnSpc>
              <a:buFont typeface="Arial"/>
              <a:buChar char="⚬"/>
            </a:pPr>
            <a:r>
              <a:rPr lang="en-US" sz="3499" dirty="0" err="1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customer_id</a:t>
            </a:r>
            <a:r>
              <a:rPr lang="en-US" sz="3499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 (identifier)</a:t>
            </a:r>
          </a:p>
          <a:p>
            <a:pPr algn="just">
              <a:lnSpc>
                <a:spcPts val="4899"/>
              </a:lnSpc>
            </a:pPr>
            <a:endParaRPr lang="en-US" sz="3499" dirty="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55649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Corrected data types</a:t>
            </a:r>
          </a:p>
          <a:p>
            <a:pPr algn="just">
              <a:lnSpc>
                <a:spcPts val="4899"/>
              </a:lnSpc>
            </a:pPr>
            <a:endParaRPr lang="en-US" sz="3499" dirty="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55649" lvl="1" indent="-377824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Verified missing values and distributions- </a:t>
            </a:r>
            <a:r>
              <a:rPr lang="en-US" sz="3499" b="1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missing values</a:t>
            </a:r>
            <a:r>
              <a:rPr lang="en-US" sz="3499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3499" b="1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duplicate records</a:t>
            </a:r>
            <a:r>
              <a:rPr lang="en-US" sz="3499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 after validation </a:t>
            </a:r>
          </a:p>
          <a:p>
            <a:pPr algn="just">
              <a:lnSpc>
                <a:spcPts val="4899"/>
              </a:lnSpc>
            </a:pPr>
            <a:endParaRPr lang="en-US" sz="3499" dirty="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55649" lvl="1" indent="-377824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Separated numerical, </a:t>
            </a:r>
            <a:r>
              <a:rPr lang="en-US" sz="3499" dirty="0" smtClean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categorical </a:t>
            </a:r>
            <a:r>
              <a:rPr lang="en-US" sz="3499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and binary features</a:t>
            </a:r>
          </a:p>
          <a:p>
            <a:pPr algn="just">
              <a:lnSpc>
                <a:spcPts val="4899"/>
              </a:lnSpc>
            </a:pPr>
            <a:endParaRPr lang="en-US" sz="3499" dirty="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8580" y="1108710"/>
            <a:ext cx="4402498" cy="403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E6F0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Exploratory Data Analysis (EDA)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767494" y="936870"/>
            <a:ext cx="361950" cy="3619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910494" y="879720"/>
            <a:ext cx="10520256" cy="851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Performed correlation </a:t>
            </a:r>
            <a:r>
              <a:rPr lang="en-US" sz="3000" b="1" u="none" strike="noStrike" dirty="0" err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heatmap</a:t>
            </a: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on continuous numeric features only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Identified: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High correlation between </a:t>
            </a:r>
            <a:r>
              <a:rPr lang="en-US" sz="3000" b="1" u="none" strike="noStrike" dirty="0" err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monthly_charges</a:t>
            </a: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</a:t>
            </a:r>
            <a:r>
              <a:rPr lang="en-US" sz="3000" b="1" u="none" strike="noStrike" dirty="0" err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arpu</a:t>
            </a: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Redundant pricing variables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 err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Droped</a:t>
            </a: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columns -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'</a:t>
            </a:r>
            <a:r>
              <a:rPr lang="en-US" sz="3000" b="1" u="none" strike="noStrike" dirty="0" err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monthly_charges</a:t>
            </a: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',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'num_complaints_3m',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'</a:t>
            </a:r>
            <a:r>
              <a:rPr lang="en-US" sz="3000" b="1" u="none" strike="noStrike" dirty="0" err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total_charges</a:t>
            </a: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'</a:t>
            </a:r>
          </a:p>
          <a:p>
            <a:pPr algn="just">
              <a:lnSpc>
                <a:spcPts val="4200"/>
              </a:lnSpc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Used 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Bar plots for-  Binary and Categorical features</a:t>
            </a:r>
          </a:p>
          <a:p>
            <a:pPr algn="just">
              <a:lnSpc>
                <a:spcPts val="4200"/>
              </a:lnSpc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Box plots for-  Numerical features</a:t>
            </a:r>
          </a:p>
          <a:p>
            <a:pPr algn="just">
              <a:lnSpc>
                <a:spcPts val="4200"/>
              </a:lnSpc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767494" y="2727570"/>
            <a:ext cx="361950" cy="36195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67494" y="4518588"/>
            <a:ext cx="361950" cy="361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67494" y="6309288"/>
            <a:ext cx="361950" cy="36195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5948469" y="-3063630"/>
            <a:ext cx="0" cy="16954500"/>
          </a:xfrm>
          <a:prstGeom prst="line">
            <a:avLst/>
          </a:prstGeom>
          <a:ln w="19050" cap="flat">
            <a:solidFill>
              <a:srgbClr val="E6F0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" y="698240"/>
            <a:ext cx="8949445" cy="3962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662"/>
          <a:stretch/>
        </p:blipFill>
        <p:spPr>
          <a:xfrm>
            <a:off x="9135037" y="647700"/>
            <a:ext cx="9025447" cy="401293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l="1370"/>
          <a:stretch/>
        </p:blipFill>
        <p:spPr>
          <a:xfrm>
            <a:off x="76200" y="5295900"/>
            <a:ext cx="8917859" cy="3886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5262228"/>
            <a:ext cx="9016484" cy="391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9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647700"/>
            <a:ext cx="13716000" cy="896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0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14300"/>
            <a:ext cx="11628002" cy="999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0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14300"/>
            <a:ext cx="11582400" cy="999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3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8718" y="1562100"/>
            <a:ext cx="361950" cy="36195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88718" y="3352800"/>
            <a:ext cx="361950" cy="3619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88718" y="5143817"/>
            <a:ext cx="361950" cy="3619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88718" y="6934517"/>
            <a:ext cx="361950" cy="361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23900"/>
            <a:ext cx="5753100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E6F0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Key Insights from EDA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288718" y="8726487"/>
            <a:ext cx="361950" cy="3619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5469693" y="-2438400"/>
            <a:ext cx="0" cy="16954500"/>
          </a:xfrm>
          <a:prstGeom prst="line">
            <a:avLst/>
          </a:prstGeom>
          <a:ln w="19050" cap="flat">
            <a:solidFill>
              <a:srgbClr val="E6F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6248400" y="1890117"/>
            <a:ext cx="10859687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overage charges → higher churn probability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Frequent complaints and call center interactions 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→ churn risk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Payment delays strongly associated with churn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 quality issues (low speed, dropped calls) impact churn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0333" y="540067"/>
            <a:ext cx="976884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E6F0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Feature Selection Decisions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67940" y="2642014"/>
            <a:ext cx="13152120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Dropped ‘</a:t>
            </a:r>
            <a:r>
              <a:rPr lang="en-US" sz="3000" b="1" u="none" strike="noStrike" dirty="0" err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monthly_charges</a:t>
            </a: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’ due to high correlation with </a:t>
            </a:r>
            <a:r>
              <a:rPr lang="en-US" sz="3000" b="1" u="none" strike="noStrike" dirty="0" err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arpu</a:t>
            </a: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Kept </a:t>
            </a:r>
            <a:r>
              <a:rPr lang="en-US" sz="3000" b="1" u="none" strike="noStrike" dirty="0" err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arpu</a:t>
            </a: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as it reflects actual realized customer cost</a:t>
            </a:r>
          </a:p>
          <a:p>
            <a:pPr>
              <a:lnSpc>
                <a:spcPts val="4200"/>
              </a:lnSpc>
              <a:spcBef>
                <a:spcPct val="0"/>
              </a:spcBef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Dropped cumulative and leakage-prone features (</a:t>
            </a:r>
            <a:r>
              <a:rPr lang="en-US" sz="3000" b="1" u="none" strike="noStrike" dirty="0" err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monthly_charges</a:t>
            </a:r>
            <a:r>
              <a:rPr lang="en-US" sz="3000" b="1" u="none" strike="noStrike" dirty="0" smtClean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', </a:t>
            </a: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'num_complaints_3m')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b="1" u="none" strike="noStrike" dirty="0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u="none" strike="noStrike" dirty="0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Retained behavior-driven features impacting churn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0333" y="540067"/>
            <a:ext cx="724662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E6F0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Feature Engineering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04160" y="2484444"/>
            <a:ext cx="12679681" cy="371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endParaRPr/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Created High Overage Risk Flag to capture billing shock behavior</a:t>
            </a:r>
          </a:p>
          <a:p>
            <a:pPr algn="just">
              <a:lnSpc>
                <a:spcPts val="4200"/>
              </a:lnSpc>
            </a:pPr>
            <a:endParaRPr lang="en-US" sz="3000" b="1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Engineered behavioral signals instead of raw extremes</a:t>
            </a:r>
          </a:p>
          <a:p>
            <a:pPr algn="just">
              <a:lnSpc>
                <a:spcPts val="4200"/>
              </a:lnSpc>
            </a:pPr>
            <a:endParaRPr lang="en-US" sz="3000" b="1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E6F0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Focused on business meaning, not just statistical transformation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E6F0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0614" y="-292804"/>
            <a:ext cx="8025768" cy="403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E6F0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Outlier Handling Strategy</a:t>
            </a:r>
          </a:p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endParaRPr lang="en-US" sz="7200" u="none" strike="noStrike">
              <a:solidFill>
                <a:srgbClr val="E6F0FF"/>
              </a:solidFill>
              <a:latin typeface="Georgia Pro Condensed Light"/>
              <a:ea typeface="Georgia Pro Condensed Light"/>
              <a:cs typeface="Georgia Pro Condensed Light"/>
              <a:sym typeface="Georgia Pro Condensed Ligh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60614" y="3684836"/>
            <a:ext cx="6864893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Did NOT blindly remove outliers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Applied soft capping only where outliers likely represent noise: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Billing spikes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Measurement errors</a:t>
            </a: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Preserved extreme values where they represent real churn behavior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831769" y="3684836"/>
            <a:ext cx="7578340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One-hot encoded categorical variables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Feature scaling applied for Logistic Regression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Stratified train-test split to maintain churn ratio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31769" y="661601"/>
            <a:ext cx="633984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E6F0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</a:t>
            </a:r>
            <a:r>
              <a:rPr lang="en-US" sz="7200" u="none" strike="noStrike">
                <a:solidFill>
                  <a:srgbClr val="E6F0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ta Preparation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797663" y="3262760"/>
            <a:ext cx="361950" cy="3619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97663" y="5053777"/>
            <a:ext cx="361950" cy="3619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97663" y="6844477"/>
            <a:ext cx="361950" cy="36195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97663" y="8636447"/>
            <a:ext cx="361950" cy="3619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8978638" y="-2528440"/>
            <a:ext cx="0" cy="16954500"/>
          </a:xfrm>
          <a:prstGeom prst="line">
            <a:avLst/>
          </a:prstGeom>
          <a:ln w="19050" cap="flat">
            <a:solidFill>
              <a:srgbClr val="E6F0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3845" y="799595"/>
            <a:ext cx="8025768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E6F0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Models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33845" y="2788097"/>
            <a:ext cx="6816093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Logistic Regression (baseline &amp; interpretable)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Random Forest (non-linear, ensemble)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XGBoost (gradient boosting)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Purpose: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       Compare simplicity vs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       performance vs generalization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07338" y="2788097"/>
            <a:ext cx="7578340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ROC-AUC (primary metric – ranking churn risk)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Precision, Recall, F1-score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Train vs Test performance to detect overfitting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831769" y="799595"/>
            <a:ext cx="699516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E6F0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Evaluation Metrics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797663" y="3262760"/>
            <a:ext cx="361950" cy="3619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97663" y="5053777"/>
            <a:ext cx="361950" cy="3619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97663" y="6844477"/>
            <a:ext cx="361950" cy="36195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97663" y="8636447"/>
            <a:ext cx="361950" cy="3619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8978638" y="-2528440"/>
            <a:ext cx="0" cy="16954500"/>
          </a:xfrm>
          <a:prstGeom prst="line">
            <a:avLst/>
          </a:prstGeom>
          <a:ln w="19050" cap="flat">
            <a:solidFill>
              <a:srgbClr val="E6F0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857500"/>
            <a:ext cx="8097982" cy="521138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724400" y="571500"/>
            <a:ext cx="13792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rgbClr val="E6F0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Model Performance 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870" y="337477"/>
            <a:ext cx="8025768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dirty="0">
                <a:solidFill>
                  <a:srgbClr val="E6F0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Model Performance Comparison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870" y="3205610"/>
            <a:ext cx="6864893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Logistic Regression: stable but limited non-linear learning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Random Forest: better than LR, moderate generalization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XGBoost: highest CV and test ROC-AUC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200"/>
              </a:lnSpc>
            </a:pPr>
            <a:r>
              <a:rPr lang="en-US" sz="3000" u="sng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XGBoost performed best in ranking high-risk churn customers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831769" y="3205610"/>
            <a:ext cx="7578340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Captures non-linear churn behavior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strike="noStrike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Learns feature interactions automatically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strike="noStrike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Focuses on hard-to-predict churn cases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strike="noStrike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Handles mixed feature types and imbalance effectively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31769" y="337477"/>
            <a:ext cx="8456231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E6F0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Why XGBoost Performed Best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797663" y="3262760"/>
            <a:ext cx="361950" cy="3619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97663" y="5053777"/>
            <a:ext cx="361950" cy="3619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97663" y="6844477"/>
            <a:ext cx="361950" cy="36195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97663" y="8636447"/>
            <a:ext cx="361950" cy="3619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8978638" y="-2528440"/>
            <a:ext cx="0" cy="16954500"/>
          </a:xfrm>
          <a:prstGeom prst="line">
            <a:avLst/>
          </a:prstGeom>
          <a:ln w="19050" cap="flat">
            <a:solidFill>
              <a:srgbClr val="E6F0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0614" y="523370"/>
            <a:ext cx="8025768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E6F0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Final Model Selection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5045" y="3684836"/>
            <a:ext cx="6864893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 Selected XGBoost as primary model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Logistic Regression retained as interpretable baseline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Acknowledged mild overfitting and discussed regularization improvements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07338" y="3684836"/>
            <a:ext cx="7578340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Customers ranked by churn probability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Enables targeted retention campaigns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Improves marketing efficiency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Reduces revenue leakage due to churn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169419" y="540068"/>
            <a:ext cx="602742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E6F0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Business Impact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797663" y="3262760"/>
            <a:ext cx="361950" cy="36195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97663" y="5053777"/>
            <a:ext cx="361950" cy="3619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97663" y="6844477"/>
            <a:ext cx="361950" cy="36195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97663" y="8636447"/>
            <a:ext cx="361950" cy="3619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8978638" y="-2528440"/>
            <a:ext cx="0" cy="16954500"/>
          </a:xfrm>
          <a:prstGeom prst="line">
            <a:avLst/>
          </a:prstGeom>
          <a:ln w="19050" cap="flat">
            <a:solidFill>
              <a:srgbClr val="E6F0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8232" y="923657"/>
            <a:ext cx="8025768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>
                <a:solidFill>
                  <a:srgbClr val="E6F0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35915" y="3174209"/>
            <a:ext cx="12691848" cy="282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Built an end-to-end churn prediction pipeline</a:t>
            </a:r>
          </a:p>
          <a:p>
            <a:pPr algn="just">
              <a:lnSpc>
                <a:spcPts val="4479"/>
              </a:lnSpc>
            </a:pPr>
            <a:endParaRPr lang="en-US" sz="3199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Combined business understanding with ML modeling</a:t>
            </a:r>
          </a:p>
          <a:p>
            <a:pPr algn="just">
              <a:lnSpc>
                <a:spcPts val="4759"/>
              </a:lnSpc>
            </a:pPr>
            <a:endParaRPr lang="en-US" sz="3199">
              <a:solidFill>
                <a:srgbClr val="E6F0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90879" lvl="1" indent="-345439" algn="just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E6F0FF"/>
                </a:solidFill>
                <a:latin typeface="Canva Sans"/>
                <a:ea typeface="Canva Sans"/>
                <a:cs typeface="Canva Sans"/>
                <a:sym typeface="Canva Sans"/>
              </a:rPr>
              <a:t>Delivered a practical, deployable churn scoring solution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820795" y="1777097"/>
            <a:ext cx="361950" cy="36195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20795" y="3568115"/>
            <a:ext cx="361950" cy="36195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820795" y="5358815"/>
            <a:ext cx="361950" cy="361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820795" y="7150785"/>
            <a:ext cx="361950" cy="36195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F0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16001770" y="-4014103"/>
            <a:ext cx="0" cy="16954500"/>
          </a:xfrm>
          <a:prstGeom prst="line">
            <a:avLst/>
          </a:prstGeom>
          <a:ln w="19050" cap="flat">
            <a:solidFill>
              <a:srgbClr val="E6F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5"/>
          <p:cNvSpPr/>
          <p:nvPr/>
        </p:nvSpPr>
        <p:spPr>
          <a:xfrm>
            <a:off x="152400" y="97839"/>
            <a:ext cx="2686050" cy="2686050"/>
          </a:xfrm>
          <a:custGeom>
            <a:avLst/>
            <a:gdLst/>
            <a:ahLst/>
            <a:cxnLst/>
            <a:rect l="l" t="t" r="r" b="b"/>
            <a:pathLst>
              <a:path w="2686050" h="2686050">
                <a:moveTo>
                  <a:pt x="0" y="0"/>
                </a:moveTo>
                <a:lnTo>
                  <a:pt x="2686050" y="0"/>
                </a:lnTo>
                <a:lnTo>
                  <a:pt x="2686050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558</Words>
  <Application>Microsoft Office PowerPoint</Application>
  <PresentationFormat>Custom</PresentationFormat>
  <Paragraphs>139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TT Interphases Bold</vt:lpstr>
      <vt:lpstr>Canva Sans Bold</vt:lpstr>
      <vt:lpstr>Arial</vt:lpstr>
      <vt:lpstr>TT Interphases</vt:lpstr>
      <vt:lpstr>Georgia Pro Condensed</vt:lpstr>
      <vt:lpstr>Calibri</vt:lpstr>
      <vt:lpstr>Canva Sans</vt:lpstr>
      <vt:lpstr>Georgia Pro 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Churn Prediction: Identifying and Retaining Valuable Customers</dc:title>
  <cp:lastModifiedBy>Vrushali Chitale</cp:lastModifiedBy>
  <cp:revision>11</cp:revision>
  <dcterms:created xsi:type="dcterms:W3CDTF">2006-08-16T00:00:00Z</dcterms:created>
  <dcterms:modified xsi:type="dcterms:W3CDTF">2026-02-18T07:29:43Z</dcterms:modified>
  <dc:identifier>DAHApH73aok</dc:identifier>
</cp:coreProperties>
</file>